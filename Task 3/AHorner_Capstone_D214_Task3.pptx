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16"/>
  </p:notesMasterIdLst>
  <p:handoutMasterIdLst>
    <p:handoutMasterId r:id="rId17"/>
  </p:handoutMasterIdLst>
  <p:sldIdLst>
    <p:sldId id="289" r:id="rId5"/>
    <p:sldId id="288" r:id="rId6"/>
    <p:sldId id="276" r:id="rId7"/>
    <p:sldId id="283" r:id="rId8"/>
    <p:sldId id="261" r:id="rId9"/>
    <p:sldId id="257" r:id="rId10"/>
    <p:sldId id="264" r:id="rId11"/>
    <p:sldId id="265" r:id="rId12"/>
    <p:sldId id="263" r:id="rId13"/>
    <p:sldId id="268"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varScale="1">
        <p:scale>
          <a:sx n="105" d="100"/>
          <a:sy n="105" d="100"/>
        </p:scale>
        <p:origin x="834" y="9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9/10/2024</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9/10/2024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Aptos" panose="020B0004020202020204" pitchFamily="34" charset="0"/>
                <a:cs typeface="Times New Roman" panose="02020603050405020304" pitchFamily="18" charset="0"/>
              </a:rPr>
              <a:t>Hotels globally have a fundamental business need to ensure that they book as many of their rooms as possible to remain profitable.  To do this, given that online booking and free cancellation policies could leave vacancy rates unacceptably high, a hotel may need to overbook to mitigate the effect.  Managing overbooking strategies necessitates an ability to predict the likelihood of a reservation being cancelled.  This goal of this study is to identify which variables from a hotel reservation could be used to predict whether the reservation will be kept or cancelled.  The hypothesis is that a Logistic Regression model can be created that can predict hotel reservation cancellations with at least 60% accuracy.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50000"/>
              </a:lnSpc>
              <a:spcBef>
                <a:spcPts val="0"/>
              </a:spcBef>
              <a:spcAft>
                <a:spcPts val="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Missing values identified and associated columns removed from the study as they were categorical and not possible to impute.</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pPr marL="342900" marR="0" lvl="0" indent="-342900">
              <a:lnSpc>
                <a:spcPct val="150000"/>
              </a:lnSpc>
              <a:spcBef>
                <a:spcPts val="0"/>
              </a:spcBef>
              <a:spcAft>
                <a:spcPts val="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Data evaluated for outliers and extreme outliers imputed to the median.</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pPr marL="342900" marR="0" lvl="0" indent="-342900">
              <a:lnSpc>
                <a:spcPct val="150000"/>
              </a:lnSpc>
              <a:spcBef>
                <a:spcPts val="0"/>
              </a:spcBef>
              <a:spcAft>
                <a:spcPts val="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Static variables (like country) were removed since values are the same for all records.</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pPr marL="342900" marR="0" lvl="0" indent="-342900">
              <a:lnSpc>
                <a:spcPct val="150000"/>
              </a:lnSpc>
              <a:spcBef>
                <a:spcPts val="0"/>
              </a:spcBef>
              <a:spcAft>
                <a:spcPts val="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Multicollinearity addressed by removing independent variables that are too highly correlated or that are duplicative of the dependent variable.</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pPr marL="342900" marR="0" lvl="0" indent="-342900">
              <a:lnSpc>
                <a:spcPct val="150000"/>
              </a:lnSpc>
              <a:spcBef>
                <a:spcPts val="0"/>
              </a:spcBef>
              <a:spcAft>
                <a:spcPts val="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Chi Square Test and ANOVA applied to independent variables to identify which would be used for the initial model.</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pPr marL="342900" marR="0" lvl="0" indent="-342900">
              <a:lnSpc>
                <a:spcPct val="150000"/>
              </a:lnSpc>
              <a:spcBef>
                <a:spcPts val="0"/>
              </a:spcBef>
              <a:spcAft>
                <a:spcPts val="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Categorical variables that would be used for modeling were dummy-encoded.</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pPr marL="342900" marR="0" lvl="0" indent="-342900">
              <a:lnSpc>
                <a:spcPct val="150000"/>
              </a:lnSpc>
              <a:spcBef>
                <a:spcPts val="0"/>
              </a:spcBef>
              <a:spcAft>
                <a:spcPts val="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Feature reduction via Recursive Feature Elimination with Cross-Validation based on a Decision Tree Classifier.</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pPr marL="342900" marR="0" lvl="0" indent="-342900">
              <a:lnSpc>
                <a:spcPct val="150000"/>
              </a:lnSpc>
              <a:spcBef>
                <a:spcPts val="0"/>
              </a:spcBef>
              <a:spcAft>
                <a:spcPts val="800"/>
              </a:spcAft>
              <a:buFont typeface="Symbol" panose="05050102010706020507" pitchFamily="18" charset="2"/>
              <a:buChar char=""/>
              <a:tabLst>
                <a:tab pos="3143250" algn="l"/>
              </a:tabLst>
            </a:pPr>
            <a:r>
              <a:rPr lang="en-US" sz="1800" kern="100" dirty="0">
                <a:effectLst/>
                <a:latin typeface="Calibri" panose="020F0502020204030204" pitchFamily="34" charset="0"/>
                <a:ea typeface="Aptos" panose="020B0004020202020204" pitchFamily="34" charset="0"/>
                <a:cs typeface="Calibri" panose="020F0502020204030204" pitchFamily="34" charset="0"/>
              </a:rPr>
              <a:t>Reduced variable set split into training and test data set, using a 30% holdout for testing.</a:t>
            </a:r>
            <a:endParaRPr lang="en-US" sz="1800" kern="100" dirty="0">
              <a:effectLst/>
              <a:latin typeface="Aptos" panose="020B0004020202020204" pitchFamily="34" charset="0"/>
              <a:ea typeface="Aptos" panose="020B000402020202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744047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711298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4056528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260937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C4293765-78A6-5206-26C2-E8817B2834F6}"/>
              </a:ext>
              <a:ext uri="{C183D7F6-B498-43B3-948B-1728B52AA6E4}">
                <adec:decorative xmlns:adec="http://schemas.microsoft.com/office/drawing/2017/decorative" val="1"/>
              </a:ext>
            </a:extLst>
          </p:cNvPr>
          <p:cNvSpPr/>
          <p:nvPr userDrawn="1"/>
        </p:nvSpPr>
        <p:spPr>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cxnSp>
        <p:nvCxnSpPr>
          <p:cNvPr id="8" name="Straight Connector 7">
            <a:extLst>
              <a:ext uri="{FF2B5EF4-FFF2-40B4-BE49-F238E27FC236}">
                <a16:creationId xmlns:a16="http://schemas.microsoft.com/office/drawing/2014/main" id="{BB4E351F-7451-86A3-5271-0D00B9EFA662}"/>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860223-A40E-30ED-6832-0825A930BB67}"/>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B6907E-F17B-783E-D454-DFC62D0977A0}"/>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B12211-7E94-9534-6F2D-2AFD2EBE36F0}"/>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6580245-E985-EC3F-9385-D0F517F0C151}"/>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A82A3-E3DF-978F-4BD7-10E0F1075B64}"/>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EDC40AE-D1CB-7535-22E2-E6D910FB8229}"/>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685800"/>
            <a:ext cx="9144000" cy="3136738"/>
          </a:xfrm>
        </p:spPr>
        <p:txBody>
          <a:bodyPr anchor="b">
            <a:noAutofit/>
          </a:bodyPr>
          <a:lstStyle>
            <a:lvl1pPr algn="ctr">
              <a:defRPr sz="4400">
                <a:solidFill>
                  <a:schemeClr val="accent6"/>
                </a:solidFill>
              </a:defRPr>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978800"/>
            <a:ext cx="9144000" cy="1965960"/>
          </a:xfrm>
        </p:spPr>
        <p:txBody>
          <a:bodyPr>
            <a:noAutofit/>
          </a:bodyPr>
          <a:lstStyle>
            <a:lvl1pPr marL="0" indent="0" algn="ctr">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535595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520464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C45A11E-9896-BD8B-8CC6-A79C124D89BC}"/>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86022B-53D6-6CE0-2093-873FC64A5D34}"/>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D4BD8F-684C-A145-3376-9E69B0E5BEE5}"/>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7C1DA9-2A25-EE21-085B-8857DC1AD722}"/>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236BB3-E567-A8A9-5EC2-BCEF79CFCF06}"/>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A87C9F-C765-C63C-951E-70721DDACDC3}"/>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425665-0C9C-3899-9DB9-ED05D91E26E6}"/>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125"/>
            <a:ext cx="10330405" cy="1325563"/>
          </a:xfrm>
        </p:spPr>
        <p:txBody>
          <a:bodyPr anchor="b"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137059"/>
            <a:ext cx="2816352" cy="3986246"/>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109014" y="2137059"/>
            <a:ext cx="7059592" cy="3986245"/>
          </a:xfrm>
        </p:spPr>
        <p:txBody>
          <a:bodyPr>
            <a:normAutofit/>
          </a:bodyPr>
          <a:lstStyle>
            <a:lvl1pPr marL="0" indent="0" algn="ctr">
              <a:buNone/>
              <a:defRPr lang="en-US" sz="2000" dirty="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74227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9/10/2024</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91" r:id="rId22"/>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hyperlink" Target="https://www.kaggle.com/datasets/govindkrishnadas/hotel-revenu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2.xml"/><Relationship Id="rId5" Type="http://schemas.openxmlformats.org/officeDocument/2006/relationships/hyperlink" Target="https://www.kaggle.com/datasets/govindkrishnadas/hotel-revenue" TargetMode="External"/><Relationship Id="rId4" Type="http://schemas.openxmlformats.org/officeDocument/2006/relationships/hyperlink" Target="mailto:ahor217@wgu.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p:txBody>
          <a:bodyPr/>
          <a:lstStyle/>
          <a:p>
            <a:r>
              <a:rPr lang="en-US" cap="none" dirty="0"/>
              <a:t>Logistic Regression Analysis of Hotel Reservations</a:t>
            </a:r>
            <a:br>
              <a:rPr lang="en-US" cap="none" dirty="0"/>
            </a:br>
            <a:br>
              <a:rPr lang="en-US" cap="none" dirty="0"/>
            </a:br>
            <a:r>
              <a:rPr lang="en-US" sz="2400" cap="none" dirty="0"/>
              <a:t>Ashley Horner</a:t>
            </a:r>
          </a:p>
        </p:txBody>
      </p:sp>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p:pic>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noFill/>
        </p:spPr>
        <p:txBody>
          <a:bodyPr anchor="ctr">
            <a:normAutofit/>
          </a:bodyPr>
          <a:lstStyle/>
          <a:p>
            <a:r>
              <a:rPr lang="en-US" dirty="0"/>
              <a:t>Introduction</a:t>
            </a:r>
          </a:p>
          <a:p>
            <a:r>
              <a:rPr lang="en-US" dirty="0"/>
              <a:t>Problem Statement and Hypothesis</a:t>
            </a:r>
          </a:p>
          <a:p>
            <a:r>
              <a:rPr lang="en-US" dirty="0"/>
              <a:t>Data Analysis Process</a:t>
            </a:r>
          </a:p>
          <a:p>
            <a:r>
              <a:rPr lang="en-US" dirty="0"/>
              <a:t>Findings</a:t>
            </a:r>
          </a:p>
          <a:p>
            <a:r>
              <a:rPr lang="en-US" dirty="0"/>
              <a:t>Limitations of the Study</a:t>
            </a:r>
          </a:p>
          <a:p>
            <a:r>
              <a:rPr lang="en-US" dirty="0"/>
              <a:t>Recommended Actions</a:t>
            </a:r>
          </a:p>
          <a:p>
            <a:r>
              <a:rPr lang="en-US" dirty="0"/>
              <a:t>Expected Benefits</a:t>
            </a:r>
          </a:p>
        </p:txBody>
      </p:sp>
      <p:pic>
        <p:nvPicPr>
          <p:cNvPr id="25" name="Picture Placeholder 6" descr="A city skyline">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8" r="38"/>
          <a:stretch/>
        </p:blipFill>
        <p:spPr/>
      </p:pic>
    </p:spTree>
    <p:extLst>
      <p:ext uri="{BB962C8B-B14F-4D97-AF65-F5344CB8AC3E}">
        <p14:creationId xmlns:p14="http://schemas.microsoft.com/office/powerpoint/2010/main" val="1038351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524000" y="743671"/>
            <a:ext cx="9144000" cy="970829"/>
          </a:xfrm>
          <a:noFill/>
        </p:spPr>
        <p:txBody>
          <a:bodyPr anchor="b"/>
          <a:lstStyle/>
          <a:p>
            <a:r>
              <a:rPr lang="en-US" dirty="0"/>
              <a:t>Introduction</a:t>
            </a:r>
          </a:p>
        </p:txBody>
      </p:sp>
      <p:pic>
        <p:nvPicPr>
          <p:cNvPr id="17" name="Picture Placeholder 16" descr="A city with tall buildings">
            <a:extLst>
              <a:ext uri="{FF2B5EF4-FFF2-40B4-BE49-F238E27FC236}">
                <a16:creationId xmlns:a16="http://schemas.microsoft.com/office/drawing/2014/main" id="{4D6EE8D1-247A-B95F-BD1A-A2D76964CF3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 r="13"/>
          <a:stretch/>
        </p:blipFill>
        <p:spPr/>
      </p:pic>
      <p:pic>
        <p:nvPicPr>
          <p:cNvPr id="4" name="Picture 3" descr="A person standing next to a horse&#10;&#10;Description automatically generated">
            <a:extLst>
              <a:ext uri="{FF2B5EF4-FFF2-40B4-BE49-F238E27FC236}">
                <a16:creationId xmlns:a16="http://schemas.microsoft.com/office/drawing/2014/main" id="{7EF3A3AB-7BF5-0857-DB8A-58FCA66C1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3818" y="1856134"/>
            <a:ext cx="2891070" cy="2501520"/>
          </a:xfrm>
          <a:prstGeom prst="rect">
            <a:avLst/>
          </a:prstGeom>
        </p:spPr>
      </p:pic>
      <p:sp>
        <p:nvSpPr>
          <p:cNvPr id="6" name="TextBox 5">
            <a:extLst>
              <a:ext uri="{FF2B5EF4-FFF2-40B4-BE49-F238E27FC236}">
                <a16:creationId xmlns:a16="http://schemas.microsoft.com/office/drawing/2014/main" id="{9F3B66E5-C6F8-5BA5-11AB-F835E9BFBA76}"/>
              </a:ext>
            </a:extLst>
          </p:cNvPr>
          <p:cNvSpPr txBox="1"/>
          <p:nvPr/>
        </p:nvSpPr>
        <p:spPr>
          <a:xfrm>
            <a:off x="4008501" y="1714500"/>
            <a:ext cx="5391150" cy="3139321"/>
          </a:xfrm>
          <a:prstGeom prst="rect">
            <a:avLst/>
          </a:prstGeom>
          <a:noFill/>
        </p:spPr>
        <p:txBody>
          <a:bodyPr wrap="square" rtlCol="0">
            <a:spAutoFit/>
          </a:bodyPr>
          <a:lstStyle/>
          <a:p>
            <a:r>
              <a:rPr lang="en-US" b="1" dirty="0"/>
              <a:t>Ashley Horner</a:t>
            </a:r>
          </a:p>
          <a:p>
            <a:r>
              <a:rPr lang="en-US" dirty="0"/>
              <a:t>Senior Data Engineer</a:t>
            </a:r>
          </a:p>
          <a:p>
            <a:r>
              <a:rPr lang="en-US" dirty="0"/>
              <a:t>Experience in Data Engineering and Data Analysis:</a:t>
            </a:r>
          </a:p>
          <a:p>
            <a:r>
              <a:rPr lang="en-US" dirty="0"/>
              <a:t>	Public K-12 Software</a:t>
            </a:r>
          </a:p>
          <a:p>
            <a:r>
              <a:rPr lang="en-US" dirty="0"/>
              <a:t>	Retail Data Analysis</a:t>
            </a:r>
          </a:p>
          <a:p>
            <a:r>
              <a:rPr lang="en-US" dirty="0"/>
              <a:t>	Restaurant Industry Data Analysis</a:t>
            </a:r>
          </a:p>
          <a:p>
            <a:r>
              <a:rPr lang="en-US" dirty="0"/>
              <a:t>	Utility Manufacturing ERP Analysis</a:t>
            </a:r>
          </a:p>
          <a:p>
            <a:r>
              <a:rPr lang="en-US" dirty="0"/>
              <a:t>	Healthcare Data Analysis and Data Engineering</a:t>
            </a:r>
          </a:p>
          <a:p>
            <a:endParaRPr lang="en-US" dirty="0"/>
          </a:p>
          <a:p>
            <a:r>
              <a:rPr lang="en-US" dirty="0"/>
              <a:t>SQL, Python, SSIS, Alteryx, SSRS, Tableau, Sisense, </a:t>
            </a:r>
            <a:r>
              <a:rPr lang="en-US" dirty="0" err="1"/>
              <a:t>PowerBI</a:t>
            </a:r>
            <a:endParaRPr lang="en-US" dirty="0"/>
          </a:p>
          <a:p>
            <a:r>
              <a:rPr lang="en-US" dirty="0"/>
              <a:t>	</a:t>
            </a:r>
          </a:p>
        </p:txBody>
      </p:sp>
    </p:spTree>
    <p:extLst>
      <p:ext uri="{BB962C8B-B14F-4D97-AF65-F5344CB8AC3E}">
        <p14:creationId xmlns:p14="http://schemas.microsoft.com/office/powerpoint/2010/main" val="821088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215072" y="528320"/>
            <a:ext cx="5028566" cy="1995805"/>
          </a:xfrm>
          <a:noFill/>
        </p:spPr>
        <p:txBody>
          <a:bodyPr>
            <a:noAutofit/>
          </a:bodyPr>
          <a:lstStyle/>
          <a:p>
            <a:r>
              <a:rPr lang="en-US" dirty="0"/>
              <a:t>Problem Statement and Hypothesis</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noFill/>
        </p:spPr>
        <p:txBody>
          <a:bodyPr anchor="t"/>
          <a:lstStyle/>
          <a:p>
            <a:r>
              <a:rPr lang="en-US" dirty="0"/>
              <a:t>Cancellations impact profitability</a:t>
            </a:r>
          </a:p>
          <a:p>
            <a:endParaRPr lang="en-US" dirty="0"/>
          </a:p>
          <a:p>
            <a:r>
              <a:rPr lang="en-US" dirty="0"/>
              <a:t>Cancellations can be predicted with at least 60% accuracy</a:t>
            </a:r>
          </a:p>
        </p:txBody>
      </p:sp>
      <p:pic>
        <p:nvPicPr>
          <p:cNvPr id="43" name="Picture Placeholder 42" descr="A plane flying over a city">
            <a:extLst>
              <a:ext uri="{FF2B5EF4-FFF2-40B4-BE49-F238E27FC236}">
                <a16:creationId xmlns:a16="http://schemas.microsoft.com/office/drawing/2014/main" id="{9100BC91-12A3-DE75-3F38-9C17D39DC5E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p:pic>
    </p:spTree>
    <p:extLst>
      <p:ext uri="{BB962C8B-B14F-4D97-AF65-F5344CB8AC3E}">
        <p14:creationId xmlns:p14="http://schemas.microsoft.com/office/powerpoint/2010/main" val="4242039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noFill/>
        </p:spPr>
        <p:txBody>
          <a:bodyPr/>
          <a:lstStyle/>
          <a:p>
            <a:r>
              <a:rPr lang="en-US" dirty="0"/>
              <a:t>Data Analysis Process</a:t>
            </a:r>
          </a:p>
        </p:txBody>
      </p:sp>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sp>
        <p:nvSpPr>
          <p:cNvPr id="3" name="Content Placeholder 2">
            <a:extLst>
              <a:ext uri="{FF2B5EF4-FFF2-40B4-BE49-F238E27FC236}">
                <a16:creationId xmlns:a16="http://schemas.microsoft.com/office/drawing/2014/main" id="{A6A33159-D030-2F82-A142-F75940728319}"/>
              </a:ext>
            </a:extLst>
          </p:cNvPr>
          <p:cNvSpPr>
            <a:spLocks noGrp="1"/>
          </p:cNvSpPr>
          <p:nvPr>
            <p:ph sz="half" idx="2"/>
          </p:nvPr>
        </p:nvSpPr>
        <p:spPr>
          <a:xfrm>
            <a:off x="3970116" y="1783080"/>
            <a:ext cx="6941703" cy="4889725"/>
          </a:xfrm>
          <a:noFill/>
        </p:spPr>
        <p:txBody>
          <a:bodyPr vert="horz" lIns="91440" tIns="45720" rIns="91440" bIns="45720" rtlCol="0" anchor="t">
            <a:normAutofit fontScale="85000" lnSpcReduction="10000"/>
          </a:bodyPr>
          <a:lstStyle/>
          <a:p>
            <a:r>
              <a:rPr lang="en-US" dirty="0"/>
              <a:t>Data for study: </a:t>
            </a:r>
            <a:r>
              <a:rPr lang="en-US" sz="1800" u="sng" kern="100" dirty="0">
                <a:solidFill>
                  <a:srgbClr val="467886"/>
                </a:solidFill>
                <a:effectLst/>
                <a:latin typeface="Calibri" panose="020F0502020204030204" pitchFamily="34" charset="0"/>
                <a:ea typeface="Aptos" panose="020B0004020202020204" pitchFamily="34" charset="0"/>
                <a:cs typeface="Times New Roman" panose="02020603050405020304" pitchFamily="18" charset="0"/>
                <a:hlinkClick r:id="rId4"/>
              </a:rPr>
              <a:t>https://www.kaggle.com/datasets/govindkrishnadas/hotel-revenue</a:t>
            </a:r>
            <a:endParaRPr lang="en-US" dirty="0"/>
          </a:p>
          <a:p>
            <a:r>
              <a:rPr lang="en-US" dirty="0"/>
              <a:t>Filter the data</a:t>
            </a:r>
          </a:p>
          <a:p>
            <a:r>
              <a:rPr lang="en-US" dirty="0"/>
              <a:t>Clean the data</a:t>
            </a:r>
          </a:p>
          <a:p>
            <a:pPr lvl="1"/>
            <a:r>
              <a:rPr lang="en-US" dirty="0"/>
              <a:t>Missing Data</a:t>
            </a:r>
          </a:p>
          <a:p>
            <a:pPr lvl="1"/>
            <a:r>
              <a:rPr lang="en-US" dirty="0"/>
              <a:t>Extreme Outliers</a:t>
            </a:r>
          </a:p>
          <a:p>
            <a:pPr lvl="1"/>
            <a:r>
              <a:rPr lang="en-US" dirty="0"/>
              <a:t>Unnecessary Columns</a:t>
            </a:r>
          </a:p>
          <a:p>
            <a:pPr lvl="1"/>
            <a:r>
              <a:rPr lang="en-US" dirty="0"/>
              <a:t>Unhelpful Columns (highly correlated data)</a:t>
            </a:r>
          </a:p>
          <a:p>
            <a:r>
              <a:rPr lang="en-US" dirty="0"/>
              <a:t>Decide what to use for predictions – Initial Predictive Model</a:t>
            </a:r>
          </a:p>
          <a:p>
            <a:r>
              <a:rPr lang="en-US" dirty="0"/>
              <a:t>Refine, Train, and Test the model</a:t>
            </a:r>
          </a:p>
          <a:p>
            <a:pPr lvl="1"/>
            <a:endParaRPr lang="en-US" dirty="0"/>
          </a:p>
        </p:txBody>
      </p:sp>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noFill/>
        </p:spPr>
        <p:txBody>
          <a:bodyPr/>
          <a:lstStyle/>
          <a:p>
            <a:r>
              <a:rPr lang="en-US" dirty="0"/>
              <a:t>Findings</a:t>
            </a:r>
          </a:p>
        </p:txBody>
      </p:sp>
      <p:sp>
        <p:nvSpPr>
          <p:cNvPr id="3" name="Subtitle 2">
            <a:extLst>
              <a:ext uri="{FF2B5EF4-FFF2-40B4-BE49-F238E27FC236}">
                <a16:creationId xmlns:a16="http://schemas.microsoft.com/office/drawing/2014/main" id="{FEECEBD4-35BF-26BB-D438-DA43EBD5EE89}"/>
              </a:ext>
            </a:extLst>
          </p:cNvPr>
          <p:cNvSpPr>
            <a:spLocks noGrp="1"/>
          </p:cNvSpPr>
          <p:nvPr>
            <p:ph type="subTitle" idx="1"/>
          </p:nvPr>
        </p:nvSpPr>
        <p:spPr>
          <a:noFill/>
        </p:spPr>
        <p:txBody>
          <a:bodyPr/>
          <a:lstStyle/>
          <a:p>
            <a:endParaRPr lang="en-US" dirty="0"/>
          </a:p>
        </p:txBody>
      </p:sp>
    </p:spTree>
    <p:extLst>
      <p:ext uri="{BB962C8B-B14F-4D97-AF65-F5344CB8AC3E}">
        <p14:creationId xmlns:p14="http://schemas.microsoft.com/office/powerpoint/2010/main" val="435195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noFill/>
        </p:spPr>
        <p:txBody>
          <a:bodyPr/>
          <a:lstStyle/>
          <a:p>
            <a:r>
              <a:rPr lang="en-US" dirty="0"/>
              <a:t>Is there an accurate predictor?</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4"/>
          </p:nvPr>
        </p:nvSpPr>
        <p:spPr>
          <a:xfrm>
            <a:off x="834961" y="2032663"/>
            <a:ext cx="4463005" cy="3673193"/>
          </a:xfrm>
          <a:solidFill>
            <a:schemeClr val="bg1"/>
          </a:solidFill>
        </p:spPr>
        <p:txBody>
          <a:bodyPr>
            <a:normAutofit/>
          </a:bodyPr>
          <a:lstStyle/>
          <a:p>
            <a:r>
              <a:rPr lang="en-US" dirty="0"/>
              <a:t>The </a:t>
            </a:r>
            <a:r>
              <a:rPr lang="en-US" b="1" u="sng" dirty="0"/>
              <a:t>lead time</a:t>
            </a:r>
            <a:r>
              <a:rPr lang="en-US" b="1" dirty="0"/>
              <a:t> </a:t>
            </a:r>
            <a:r>
              <a:rPr lang="en-US" dirty="0"/>
              <a:t>of a reservation is directly tied to whether a hotel reservation has increased likelihood to no-show or cancel.</a:t>
            </a:r>
          </a:p>
          <a:p>
            <a:pPr lvl="1"/>
            <a:r>
              <a:rPr lang="en-US" dirty="0"/>
              <a:t>At zero, there’s a 31.2% chance the reservation will cancel.</a:t>
            </a:r>
          </a:p>
          <a:p>
            <a:pPr lvl="1"/>
            <a:r>
              <a:rPr lang="en-US" dirty="0"/>
              <a:t>Each additional day increases that by 0.14%</a:t>
            </a:r>
          </a:p>
          <a:p>
            <a:pPr lvl="1"/>
            <a:r>
              <a:rPr lang="en-US" dirty="0"/>
              <a:t>By 290 days lead time, there’s a 50% chance of cancellation.</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xfrm>
            <a:off x="6141720" y="2032663"/>
            <a:ext cx="5212080" cy="1382156"/>
          </a:xfrm>
          <a:solidFill>
            <a:schemeClr val="bg1"/>
          </a:solidFill>
        </p:spPr>
        <p:txBody>
          <a:bodyPr>
            <a:normAutofit/>
          </a:bodyPr>
          <a:lstStyle/>
          <a:p>
            <a:r>
              <a:rPr lang="en-US" dirty="0"/>
              <a:t>Accuracy of this model is 80-81%.</a:t>
            </a:r>
          </a:p>
          <a:p>
            <a:r>
              <a:rPr lang="en-US" dirty="0"/>
              <a:t>	The model correctly predicts a cancellation will 	happen 80-81% of the time.</a:t>
            </a:r>
          </a:p>
        </p:txBody>
      </p:sp>
    </p:spTree>
    <p:extLst>
      <p:ext uri="{BB962C8B-B14F-4D97-AF65-F5344CB8AC3E}">
        <p14:creationId xmlns:p14="http://schemas.microsoft.com/office/powerpoint/2010/main" val="83740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noFill/>
        </p:spPr>
        <p:txBody>
          <a:bodyPr/>
          <a:lstStyle/>
          <a:p>
            <a:r>
              <a:rPr lang="en-US" dirty="0"/>
              <a:t>Limitations</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half" idx="15"/>
          </p:nvPr>
        </p:nvSpPr>
        <p:spPr>
          <a:xfrm>
            <a:off x="838198" y="2078963"/>
            <a:ext cx="7219951" cy="4067492"/>
          </a:xfrm>
          <a:noFill/>
        </p:spPr>
        <p:txBody>
          <a:bodyPr>
            <a:normAutofit/>
          </a:bodyPr>
          <a:lstStyle/>
          <a:p>
            <a:r>
              <a:rPr lang="en-US" dirty="0"/>
              <a:t>Only 3 years of data</a:t>
            </a:r>
          </a:p>
          <a:p>
            <a:r>
              <a:rPr lang="en-US" dirty="0"/>
              <a:t>Influence of COVID-19 pandemic</a:t>
            </a:r>
          </a:p>
          <a:p>
            <a:r>
              <a:rPr lang="en-US" dirty="0"/>
              <a:t>Doesn’t address the nuances of human behavior or complexities of demographic factors – simple model for simple application.</a:t>
            </a:r>
          </a:p>
          <a:p>
            <a:endParaRPr lang="en-US" dirty="0"/>
          </a:p>
        </p:txBody>
      </p:sp>
    </p:spTree>
    <p:extLst>
      <p:ext uri="{BB962C8B-B14F-4D97-AF65-F5344CB8AC3E}">
        <p14:creationId xmlns:p14="http://schemas.microsoft.com/office/powerpoint/2010/main" val="729609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noFill/>
        </p:spPr>
        <p:txBody>
          <a:bodyPr/>
          <a:lstStyle/>
          <a:p>
            <a:r>
              <a:rPr lang="en-US" dirty="0"/>
              <a:t>Recommended Actions</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noFill/>
        </p:spPr>
        <p:txBody>
          <a:bodyPr vert="horz" lIns="91440" tIns="45720" rIns="91440" bIns="45720" rtlCol="0" anchor="t">
            <a:normAutofit/>
          </a:bodyPr>
          <a:lstStyle/>
          <a:p>
            <a:r>
              <a:rPr lang="en-US" dirty="0"/>
              <a:t>Leverage this model and …</a:t>
            </a:r>
          </a:p>
          <a:p>
            <a:endParaRPr lang="en-US" dirty="0"/>
          </a:p>
          <a:p>
            <a:r>
              <a:rPr lang="en-US" dirty="0"/>
              <a:t>			</a:t>
            </a:r>
            <a:r>
              <a:rPr lang="en-US" sz="3200" dirty="0"/>
              <a:t>Overbook!</a:t>
            </a:r>
          </a:p>
          <a:p>
            <a:endParaRPr lang="en-US" dirty="0"/>
          </a:p>
          <a:p>
            <a:r>
              <a:rPr lang="en-US" dirty="0"/>
              <a:t>… but not every reservation equally.</a:t>
            </a:r>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p:pic>
    </p:spTree>
    <p:extLst>
      <p:ext uri="{BB962C8B-B14F-4D97-AF65-F5344CB8AC3E}">
        <p14:creationId xmlns:p14="http://schemas.microsoft.com/office/powerpoint/2010/main" val="2737241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noFill/>
        </p:spPr>
        <p:txBody>
          <a:bodyPr>
            <a:noAutofit/>
          </a:bodyPr>
          <a:lstStyle/>
          <a:p>
            <a:r>
              <a:rPr lang="en-US" dirty="0"/>
              <a:t>Expected Benefits</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838200" y="2167158"/>
            <a:ext cx="8860536" cy="1453866"/>
          </a:xfrm>
          <a:solidFill>
            <a:schemeClr val="bg1"/>
          </a:solidFill>
        </p:spPr>
        <p:txBody>
          <a:bodyPr vert="horz" lIns="91440" tIns="45720" rIns="91440" bIns="45720" rtlCol="0" anchor="t">
            <a:normAutofit/>
          </a:bodyPr>
          <a:lstStyle/>
          <a:p>
            <a:r>
              <a:rPr lang="en-US" dirty="0"/>
              <a:t>A highly successful overbooking model could regain over £350,000 per year for Great Britain’s hotels.</a:t>
            </a:r>
          </a:p>
        </p:txBody>
      </p:sp>
      <p:graphicFrame>
        <p:nvGraphicFramePr>
          <p:cNvPr id="3" name="Table Placeholder 2">
            <a:extLst>
              <a:ext uri="{FF2B5EF4-FFF2-40B4-BE49-F238E27FC236}">
                <a16:creationId xmlns:a16="http://schemas.microsoft.com/office/drawing/2014/main" id="{F01CF5D3-D3B1-1944-CFDF-D8EE11DE42AA}"/>
              </a:ext>
            </a:extLst>
          </p:cNvPr>
          <p:cNvGraphicFramePr>
            <a:graphicFrameLocks noGrp="1"/>
          </p:cNvGraphicFramePr>
          <p:nvPr>
            <p:ph type="tbl" sz="quarter" idx="13"/>
            <p:extLst>
              <p:ext uri="{D42A27DB-BD31-4B8C-83A1-F6EECF244321}">
                <p14:modId xmlns:p14="http://schemas.microsoft.com/office/powerpoint/2010/main" val="2908498721"/>
              </p:ext>
            </p:extLst>
          </p:nvPr>
        </p:nvGraphicFramePr>
        <p:xfrm>
          <a:off x="673608" y="2718015"/>
          <a:ext cx="8113776" cy="2137449"/>
        </p:xfrm>
        <a:graphic>
          <a:graphicData uri="http://schemas.openxmlformats.org/drawingml/2006/table">
            <a:tbl>
              <a:tblPr firstRow="1" bandRow="1">
                <a:tableStyleId>{9DCAF9ED-07DC-4A11-8D7F-57B35C25682E}</a:tableStyleId>
              </a:tblPr>
              <a:tblGrid>
                <a:gridCol w="1352296">
                  <a:extLst>
                    <a:ext uri="{9D8B030D-6E8A-4147-A177-3AD203B41FA5}">
                      <a16:colId xmlns:a16="http://schemas.microsoft.com/office/drawing/2014/main" val="127040821"/>
                    </a:ext>
                  </a:extLst>
                </a:gridCol>
                <a:gridCol w="1352296">
                  <a:extLst>
                    <a:ext uri="{9D8B030D-6E8A-4147-A177-3AD203B41FA5}">
                      <a16:colId xmlns:a16="http://schemas.microsoft.com/office/drawing/2014/main" val="164489929"/>
                    </a:ext>
                  </a:extLst>
                </a:gridCol>
                <a:gridCol w="1352296">
                  <a:extLst>
                    <a:ext uri="{9D8B030D-6E8A-4147-A177-3AD203B41FA5}">
                      <a16:colId xmlns:a16="http://schemas.microsoft.com/office/drawing/2014/main" val="149845700"/>
                    </a:ext>
                  </a:extLst>
                </a:gridCol>
                <a:gridCol w="1352296">
                  <a:extLst>
                    <a:ext uri="{9D8B030D-6E8A-4147-A177-3AD203B41FA5}">
                      <a16:colId xmlns:a16="http://schemas.microsoft.com/office/drawing/2014/main" val="3119692462"/>
                    </a:ext>
                  </a:extLst>
                </a:gridCol>
                <a:gridCol w="1352296">
                  <a:extLst>
                    <a:ext uri="{9D8B030D-6E8A-4147-A177-3AD203B41FA5}">
                      <a16:colId xmlns:a16="http://schemas.microsoft.com/office/drawing/2014/main" val="3472639139"/>
                    </a:ext>
                  </a:extLst>
                </a:gridCol>
                <a:gridCol w="1352296">
                  <a:extLst>
                    <a:ext uri="{9D8B030D-6E8A-4147-A177-3AD203B41FA5}">
                      <a16:colId xmlns:a16="http://schemas.microsoft.com/office/drawing/2014/main" val="2538881419"/>
                    </a:ext>
                  </a:extLst>
                </a:gridCol>
              </a:tblGrid>
              <a:tr h="511525">
                <a:tc>
                  <a:txBody>
                    <a:bodyPr/>
                    <a:lstStyle/>
                    <a:p>
                      <a:pPr algn="ctr"/>
                      <a:r>
                        <a:rPr lang="en-US" b="0" i="0" dirty="0">
                          <a:latin typeface="+mn-lt"/>
                        </a:rPr>
                        <a:t>Lead Time Range</a:t>
                      </a:r>
                    </a:p>
                  </a:txBody>
                  <a:tcPr anchor="ctr"/>
                </a:tc>
                <a:tc>
                  <a:txBody>
                    <a:bodyPr/>
                    <a:lstStyle/>
                    <a:p>
                      <a:pPr algn="ctr"/>
                      <a:r>
                        <a:rPr lang="en-US" b="0" i="0" dirty="0">
                          <a:latin typeface="+mn-lt"/>
                        </a:rPr>
                        <a:t>Likelihood of Cancellation</a:t>
                      </a:r>
                    </a:p>
                  </a:txBody>
                  <a:tcPr anchor="ctr"/>
                </a:tc>
                <a:tc>
                  <a:txBody>
                    <a:bodyPr/>
                    <a:lstStyle/>
                    <a:p>
                      <a:pPr algn="ctr"/>
                      <a:r>
                        <a:rPr lang="en-US" b="0" i="0" dirty="0">
                          <a:latin typeface="+mn-lt"/>
                        </a:rPr>
                        <a:t>% of Data</a:t>
                      </a:r>
                    </a:p>
                  </a:txBody>
                  <a:tcPr anchor="ctr"/>
                </a:tc>
                <a:tc>
                  <a:txBody>
                    <a:bodyPr/>
                    <a:lstStyle/>
                    <a:p>
                      <a:pPr algn="ctr"/>
                      <a:r>
                        <a:rPr lang="en-US" b="0" i="0" dirty="0">
                          <a:latin typeface="+mn-lt"/>
                        </a:rPr>
                        <a:t>Average ADR</a:t>
                      </a:r>
                    </a:p>
                  </a:txBody>
                  <a:tcPr anchor="ctr"/>
                </a:tc>
                <a:tc>
                  <a:txBody>
                    <a:bodyPr/>
                    <a:lstStyle/>
                    <a:p>
                      <a:pPr algn="ctr"/>
                      <a:r>
                        <a:rPr lang="en-US" b="0" i="0" dirty="0">
                          <a:latin typeface="+mn-lt"/>
                        </a:rPr>
                        <a:t>Average Length of Stay</a:t>
                      </a:r>
                    </a:p>
                  </a:txBody>
                  <a:tcPr anchor="ctr"/>
                </a:tc>
                <a:tc>
                  <a:txBody>
                    <a:bodyPr/>
                    <a:lstStyle/>
                    <a:p>
                      <a:pPr algn="ctr"/>
                      <a:r>
                        <a:rPr lang="en-US" b="0" i="0" dirty="0">
                          <a:latin typeface="+mn-lt"/>
                        </a:rPr>
                        <a:t>Monetary Impact (annual)</a:t>
                      </a:r>
                    </a:p>
                  </a:txBody>
                  <a:tcPr anchor="ctr"/>
                </a:tc>
                <a:extLst>
                  <a:ext uri="{0D108BD9-81ED-4DB2-BD59-A6C34878D82A}">
                    <a16:rowId xmlns:a16="http://schemas.microsoft.com/office/drawing/2014/main" val="3298013591"/>
                  </a:ext>
                </a:extLst>
              </a:tr>
              <a:tr h="582969">
                <a:tc>
                  <a:txBody>
                    <a:bodyPr/>
                    <a:lstStyle/>
                    <a:p>
                      <a:pPr algn="ctr"/>
                      <a:r>
                        <a:rPr lang="en-US" b="0" i="0" dirty="0">
                          <a:latin typeface="+mn-lt"/>
                        </a:rPr>
                        <a:t>&gt; 290 days</a:t>
                      </a:r>
                    </a:p>
                  </a:txBody>
                  <a:tcPr anchor="ctr"/>
                </a:tc>
                <a:tc>
                  <a:txBody>
                    <a:bodyPr/>
                    <a:lstStyle/>
                    <a:p>
                      <a:pPr algn="ctr"/>
                      <a:r>
                        <a:rPr lang="en-US" b="0" i="0" dirty="0">
                          <a:latin typeface="+mn-lt"/>
                        </a:rPr>
                        <a:t>~ 50%</a:t>
                      </a:r>
                    </a:p>
                  </a:txBody>
                  <a:tcPr anchor="ctr"/>
                </a:tc>
                <a:tc>
                  <a:txBody>
                    <a:bodyPr/>
                    <a:lstStyle/>
                    <a:p>
                      <a:pPr algn="ctr"/>
                      <a:r>
                        <a:rPr lang="en-US" b="0" i="0" dirty="0">
                          <a:latin typeface="+mn-lt"/>
                        </a:rPr>
                        <a:t>7.75%</a:t>
                      </a:r>
                    </a:p>
                  </a:txBody>
                  <a:tcPr anchor="ctr"/>
                </a:tc>
                <a:tc>
                  <a:txBody>
                    <a:bodyPr/>
                    <a:lstStyle/>
                    <a:p>
                      <a:pPr algn="ctr"/>
                      <a:r>
                        <a:rPr lang="en-US" b="0" i="0" dirty="0">
                          <a:latin typeface="+mn-lt"/>
                        </a:rPr>
                        <a:t>£88</a:t>
                      </a:r>
                    </a:p>
                  </a:txBody>
                  <a:tcPr anchor="ctr"/>
                </a:tc>
                <a:tc>
                  <a:txBody>
                    <a:bodyPr/>
                    <a:lstStyle/>
                    <a:p>
                      <a:pPr algn="ctr"/>
                      <a:r>
                        <a:rPr lang="en-US" b="0" i="0" dirty="0">
                          <a:latin typeface="+mn-lt"/>
                        </a:rPr>
                        <a:t>6 nights</a:t>
                      </a:r>
                    </a:p>
                  </a:txBody>
                  <a:tcPr anchor="ctr"/>
                </a:tc>
                <a:tc>
                  <a:txBody>
                    <a:bodyPr/>
                    <a:lstStyle/>
                    <a:p>
                      <a:pPr algn="ctr"/>
                      <a:r>
                        <a:rPr lang="en-US" b="0" i="0" dirty="0">
                          <a:latin typeface="+mn-lt"/>
                        </a:rPr>
                        <a:t>£183,920</a:t>
                      </a:r>
                    </a:p>
                  </a:txBody>
                  <a:tcPr anchor="ctr"/>
                </a:tc>
                <a:extLst>
                  <a:ext uri="{0D108BD9-81ED-4DB2-BD59-A6C34878D82A}">
                    <a16:rowId xmlns:a16="http://schemas.microsoft.com/office/drawing/2014/main" val="3873867931"/>
                  </a:ext>
                </a:extLst>
              </a:tr>
              <a:tr h="582969">
                <a:tc>
                  <a:txBody>
                    <a:bodyPr/>
                    <a:lstStyle/>
                    <a:p>
                      <a:pPr algn="ctr"/>
                      <a:r>
                        <a:rPr lang="en-US" b="0" i="0" dirty="0">
                          <a:latin typeface="+mn-lt"/>
                        </a:rPr>
                        <a:t>145 – 289 days</a:t>
                      </a:r>
                    </a:p>
                  </a:txBody>
                  <a:tcPr anchor="ctr"/>
                </a:tc>
                <a:tc>
                  <a:txBody>
                    <a:bodyPr/>
                    <a:lstStyle/>
                    <a:p>
                      <a:pPr algn="ctr"/>
                      <a:r>
                        <a:rPr lang="en-US" b="0" i="0" dirty="0">
                          <a:latin typeface="+mn-lt"/>
                        </a:rPr>
                        <a:t>~ 40%</a:t>
                      </a:r>
                    </a:p>
                  </a:txBody>
                  <a:tcPr anchor="ctr"/>
                </a:tc>
                <a:tc>
                  <a:txBody>
                    <a:bodyPr/>
                    <a:lstStyle/>
                    <a:p>
                      <a:pPr algn="ctr"/>
                      <a:r>
                        <a:rPr lang="en-US" b="0" i="0" dirty="0">
                          <a:latin typeface="+mn-lt"/>
                        </a:rPr>
                        <a:t>29.84%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i="0" dirty="0">
                          <a:latin typeface="+mn-lt"/>
                        </a:rPr>
                        <a:t>£86</a:t>
                      </a:r>
                    </a:p>
                  </a:txBody>
                  <a:tcPr anchor="ctr"/>
                </a:tc>
                <a:tc>
                  <a:txBody>
                    <a:bodyPr/>
                    <a:lstStyle/>
                    <a:p>
                      <a:pPr algn="ctr"/>
                      <a:r>
                        <a:rPr lang="en-US" b="0" i="0" dirty="0">
                          <a:latin typeface="+mn-lt"/>
                        </a:rPr>
                        <a:t>5 nights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i="0" dirty="0">
                          <a:latin typeface="+mn-lt"/>
                        </a:rPr>
                        <a:t>£173,032*</a:t>
                      </a:r>
                    </a:p>
                  </a:txBody>
                  <a:tcPr anchor="ctr"/>
                </a:tc>
                <a:extLst>
                  <a:ext uri="{0D108BD9-81ED-4DB2-BD59-A6C34878D82A}">
                    <a16:rowId xmlns:a16="http://schemas.microsoft.com/office/drawing/2014/main" val="85209771"/>
                  </a:ext>
                </a:extLst>
              </a:tr>
            </a:tbl>
          </a:graphicData>
        </a:graphic>
      </p:graphicFrame>
      <p:sp>
        <p:nvSpPr>
          <p:cNvPr id="4" name="TextBox 3">
            <a:extLst>
              <a:ext uri="{FF2B5EF4-FFF2-40B4-BE49-F238E27FC236}">
                <a16:creationId xmlns:a16="http://schemas.microsoft.com/office/drawing/2014/main" id="{8B944E2F-D19F-6162-1985-2F94281FA505}"/>
              </a:ext>
            </a:extLst>
          </p:cNvPr>
          <p:cNvSpPr txBox="1"/>
          <p:nvPr/>
        </p:nvSpPr>
        <p:spPr>
          <a:xfrm>
            <a:off x="2686958" y="4968020"/>
            <a:ext cx="6208751" cy="276999"/>
          </a:xfrm>
          <a:prstGeom prst="rect">
            <a:avLst/>
          </a:prstGeom>
          <a:noFill/>
        </p:spPr>
        <p:txBody>
          <a:bodyPr wrap="none" rtlCol="0">
            <a:spAutoFit/>
          </a:bodyPr>
          <a:lstStyle/>
          <a:p>
            <a:r>
              <a:rPr lang="en-US" sz="1200" dirty="0"/>
              <a:t>* If 30% of these reservations were targeted for overbooking and successfully converted to completed stays</a:t>
            </a:r>
          </a:p>
        </p:txBody>
      </p:sp>
    </p:spTree>
    <p:extLst>
      <p:ext uri="{BB962C8B-B14F-4D97-AF65-F5344CB8AC3E}">
        <p14:creationId xmlns:p14="http://schemas.microsoft.com/office/powerpoint/2010/main" val="425997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6080992" y="731562"/>
            <a:ext cx="4902843" cy="1563582"/>
          </a:xfrm>
          <a:noFill/>
        </p:spPr>
        <p:txBody>
          <a:bodyPr anchor="b"/>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080991" y="2150095"/>
            <a:ext cx="4902843" cy="1753221"/>
          </a:xfrm>
          <a:noFill/>
        </p:spPr>
        <p:txBody>
          <a:bodyPr anchor="t">
            <a:normAutofit/>
          </a:bodyPr>
          <a:lstStyle/>
          <a:p>
            <a:r>
              <a:rPr lang="en-US" dirty="0"/>
              <a:t>Ashley Horner</a:t>
            </a:r>
          </a:p>
          <a:p>
            <a:r>
              <a:rPr lang="en-US" dirty="0">
                <a:hlinkClick r:id="rId4"/>
              </a:rPr>
              <a:t>ahor217@wgu.edu</a:t>
            </a:r>
            <a:endParaRPr lang="en-US" dirty="0"/>
          </a:p>
          <a:p>
            <a:r>
              <a:rPr lang="en-US" dirty="0"/>
              <a:t>Student ID 0117741877</a:t>
            </a:r>
          </a:p>
        </p:txBody>
      </p:sp>
      <p:sp>
        <p:nvSpPr>
          <p:cNvPr id="4" name="TextBox 3">
            <a:extLst>
              <a:ext uri="{FF2B5EF4-FFF2-40B4-BE49-F238E27FC236}">
                <a16:creationId xmlns:a16="http://schemas.microsoft.com/office/drawing/2014/main" id="{120DA706-672B-1DCB-D0B0-25D29CD2FE81}"/>
              </a:ext>
            </a:extLst>
          </p:cNvPr>
          <p:cNvSpPr txBox="1"/>
          <p:nvPr/>
        </p:nvSpPr>
        <p:spPr>
          <a:xfrm>
            <a:off x="3523047" y="3947304"/>
            <a:ext cx="5115888" cy="1231106"/>
          </a:xfrm>
          <a:prstGeom prst="rect">
            <a:avLst/>
          </a:prstGeom>
          <a:noFill/>
        </p:spPr>
        <p:txBody>
          <a:bodyPr wrap="none" rtlCol="0">
            <a:spAutoFit/>
          </a:bodyPr>
          <a:lstStyle/>
          <a:p>
            <a:r>
              <a:rPr lang="en-US" sz="1400" kern="100" dirty="0">
                <a:latin typeface="Calibri" panose="020F0502020204030204" pitchFamily="34" charset="0"/>
                <a:ea typeface="Aptos" panose="020B0004020202020204" pitchFamily="34" charset="0"/>
                <a:cs typeface="Times New Roman" panose="02020603050405020304" pitchFamily="18" charset="0"/>
              </a:rPr>
              <a:t>Reference :</a:t>
            </a:r>
            <a:endParaRPr lang="en-US" sz="1400" kern="100" dirty="0">
              <a:effectLst/>
              <a:latin typeface="Calibri" panose="020F0502020204030204" pitchFamily="34" charset="0"/>
              <a:ea typeface="Aptos" panose="020B0004020202020204" pitchFamily="34" charset="0"/>
              <a:cs typeface="Times New Roman" panose="02020603050405020304" pitchFamily="18" charset="0"/>
            </a:endParaRPr>
          </a:p>
          <a:p>
            <a:r>
              <a:rPr lang="en-US" sz="1400" kern="100" dirty="0" err="1">
                <a:effectLst/>
                <a:latin typeface="Calibri" panose="020F0502020204030204" pitchFamily="34" charset="0"/>
                <a:ea typeface="Aptos" panose="020B0004020202020204" pitchFamily="34" charset="0"/>
                <a:cs typeface="Times New Roman" panose="02020603050405020304" pitchFamily="18" charset="0"/>
              </a:rPr>
              <a:t>Krishnadas</a:t>
            </a:r>
            <a:r>
              <a:rPr lang="en-US" sz="1400" kern="100" dirty="0">
                <a:effectLst/>
                <a:latin typeface="Calibri" panose="020F0502020204030204" pitchFamily="34" charset="0"/>
                <a:ea typeface="Aptos" panose="020B0004020202020204" pitchFamily="34" charset="0"/>
                <a:cs typeface="Times New Roman" panose="02020603050405020304" pitchFamily="18" charset="0"/>
              </a:rPr>
              <a:t>, Govind. 2022. </a:t>
            </a:r>
            <a:r>
              <a:rPr lang="en-US" sz="1400" i="1" kern="100" dirty="0">
                <a:effectLst/>
                <a:latin typeface="Calibri" panose="020F0502020204030204" pitchFamily="34" charset="0"/>
                <a:ea typeface="Aptos" panose="020B0004020202020204" pitchFamily="34" charset="0"/>
                <a:cs typeface="Times New Roman" panose="02020603050405020304" pitchFamily="18" charset="0"/>
              </a:rPr>
              <a:t>Hotel Revenue. </a:t>
            </a:r>
            <a:r>
              <a:rPr lang="en-US" sz="1400" kern="100" dirty="0">
                <a:effectLst/>
                <a:latin typeface="Calibri" panose="020F0502020204030204" pitchFamily="34" charset="0"/>
                <a:ea typeface="Aptos" panose="020B0004020202020204" pitchFamily="34" charset="0"/>
                <a:cs typeface="Times New Roman" panose="02020603050405020304" pitchFamily="18" charset="0"/>
              </a:rPr>
              <a:t>Kaggle.com. </a:t>
            </a:r>
          </a:p>
          <a:p>
            <a:r>
              <a:rPr lang="en-US" sz="1400" kern="100" dirty="0">
                <a:effectLst/>
                <a:latin typeface="Calibri" panose="020F0502020204030204" pitchFamily="34" charset="0"/>
                <a:ea typeface="Aptos" panose="020B0004020202020204" pitchFamily="34" charset="0"/>
                <a:cs typeface="Times New Roman" panose="02020603050405020304" pitchFamily="18" charset="0"/>
              </a:rPr>
              <a:t>Retrieved August 4, 2024 from </a:t>
            </a:r>
          </a:p>
          <a:p>
            <a:r>
              <a:rPr lang="en-US" sz="1400" u="sng" kern="100" dirty="0">
                <a:solidFill>
                  <a:srgbClr val="467886"/>
                </a:solidFill>
                <a:effectLst/>
                <a:latin typeface="Calibri" panose="020F0502020204030204" pitchFamily="34" charset="0"/>
                <a:ea typeface="Aptos" panose="020B0004020202020204" pitchFamily="34" charset="0"/>
                <a:cs typeface="Times New Roman" panose="02020603050405020304" pitchFamily="18" charset="0"/>
                <a:hlinkClick r:id="rId5"/>
              </a:rPr>
              <a:t>https://www.kaggle.com/datasets/govindkrishnadas/hotel-revenue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2.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{72D3BF4F-D1AE-44D3-BFA3-70F54A964E4C}tf22797433_win32</Template>
  <TotalTime>77</TotalTime>
  <Words>690</Words>
  <Application>Microsoft Office PowerPoint</Application>
  <PresentationFormat>Widescreen</PresentationFormat>
  <Paragraphs>102</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Symbol</vt:lpstr>
      <vt:lpstr>Univers Condensed Light</vt:lpstr>
      <vt:lpstr>Walbaum Display Light</vt:lpstr>
      <vt:lpstr>AngleLinesVTI</vt:lpstr>
      <vt:lpstr>Logistic Regression Analysis of Hotel Reservations  Ashley Horner</vt:lpstr>
      <vt:lpstr>AGENDA</vt:lpstr>
      <vt:lpstr>Introduction</vt:lpstr>
      <vt:lpstr>Problem Statement and Hypothesis</vt:lpstr>
      <vt:lpstr>Data Analysis Process</vt:lpstr>
      <vt:lpstr>Findings</vt:lpstr>
      <vt:lpstr>Is there an accurate predictor?</vt:lpstr>
      <vt:lpstr>Limitations</vt:lpstr>
      <vt:lpstr>Recommended Actions</vt:lpstr>
      <vt:lpstr>Expected Benefits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H</dc:creator>
  <cp:lastModifiedBy>A H</cp:lastModifiedBy>
  <cp:revision>11</cp:revision>
  <dcterms:created xsi:type="dcterms:W3CDTF">2024-09-10T15:59:38Z</dcterms:created>
  <dcterms:modified xsi:type="dcterms:W3CDTF">2024-09-10T17:17:35Z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